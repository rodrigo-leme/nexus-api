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 — CAPA):</a:t>
            </a:r>
          </a:p>
          <a:p>
            <a:r>
              <a:t>Boa noite, professores. Somos a equipe Space Code e vamos apresentar</a:t>
            </a:r>
          </a:p>
          <a:p>
            <a:r>
              <a:t>a infraestrutura completa que montamos no Windows Server 2022 para</a:t>
            </a:r>
          </a:p>
          <a:p>
            <a:r>
              <a:t>a empresa ficticia Space Code LTDA — uma software house focada em</a:t>
            </a:r>
          </a:p>
          <a:p>
            <a:r>
              <a:t>sistemas para ambientes extremos como plataformas offshore e bases polares.</a:t>
            </a:r>
          </a:p>
          <a:p>
            <a:r>
              <a:t>Nosso projeto se chama NEXUS.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2 — AGENDA):</a:t>
            </a:r>
          </a:p>
          <a:p>
            <a:r>
              <a:t>Vamos passar por todos os itens pedidos no projeto. Comecamos</a:t>
            </a:r>
          </a:p>
          <a:p>
            <a:r>
              <a:t>com o contexto, depois mostramos cada servico configurado no</a:t>
            </a:r>
          </a:p>
          <a:p>
            <a:r>
              <a:t>Windows Server: AD, GPO, DNS e IIS. Em seguida, mostramos</a:t>
            </a:r>
          </a:p>
          <a:p>
            <a:r>
              <a:t>o site rodando, o JSON do formulario, e fechamos com o plano</a:t>
            </a:r>
          </a:p>
          <a:p>
            <a:r>
              <a:t>de recovery em datacenter espacial.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3 — ESCOPO):</a:t>
            </a:r>
          </a:p>
          <a:p>
            <a:r>
              <a:t>A Space Code e a empresa ficticia do projeto. Ela desenvolve o NEXUS,</a:t>
            </a:r>
          </a:p>
          <a:p>
            <a:r>
              <a:t>um sistema para ambientes extremos. Nosso trabalho foi montar toda a</a:t>
            </a:r>
          </a:p>
          <a:p>
            <a:r>
              <a:t>infraestrutura no Windows Server: Active Directory com 10 usuarios</a:t>
            </a:r>
          </a:p>
          <a:p>
            <a:r>
              <a:t>divididos em 3 grupos, GPOs com bloqueios especificos por area,</a:t>
            </a:r>
          </a:p>
          <a:p>
            <a:r>
              <a:t>DNS pra resolucao do nome do site, e o IIS hospedando o site</a:t>
            </a:r>
          </a:p>
          <a:p>
            <a:r>
              <a:t>institucional com formulario que salva em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4 — ACTIVE DIRECTORY):</a:t>
            </a:r>
          </a:p>
          <a:p>
            <a:r>
              <a:t>Criamos o dominio spacecode.local. Dentro dele, tres OUs principais:</a:t>
            </a:r>
          </a:p>
          <a:p>
            <a:r>
              <a:t>Back, Front e PM. Cada uma tem uma Sub-OU: Back_Devs, Front_Devs e</a:t>
            </a:r>
          </a:p>
          <a:p>
            <a:r>
              <a:t>PM_Users, com seus respectivos grupos de seguranca. Sao 10 usuarios</a:t>
            </a:r>
          </a:p>
          <a:p>
            <a:r>
              <a:t>no total: 5 back-end, 3 front-end e 2 PMs. O usuario rodrigo.leme</a:t>
            </a:r>
          </a:p>
          <a:p>
            <a:r>
              <a:t>esta configurado pra alterar a senha no primeiro login, como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5 — SCRIPT AD):</a:t>
            </a:r>
          </a:p>
          <a:p>
            <a:r>
              <a:t>Todo o processo foi automatizado com PowerShell. O script setup-ad.ps1</a:t>
            </a:r>
          </a:p>
          <a:p>
            <a:r>
              <a:t>instala o role AD DS, promove o servidor a Domain Controller, cria as</a:t>
            </a:r>
          </a:p>
          <a:p>
            <a:r>
              <a:t>OUs e Sub-OUs, os grupos de seguranca, e os 10 usuarios. O Rodrigo</a:t>
            </a:r>
          </a:p>
          <a:p>
            <a:r>
              <a:t>Leme foi configurado com ChangePasswordAtLogon true, que obriga a</a:t>
            </a:r>
          </a:p>
          <a:p>
            <a:r>
              <a:t>trocar a senha no primeiro acesso.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6 — GPO):</a:t>
            </a:r>
          </a:p>
          <a:p>
            <a:r>
              <a:t>Criamos tres GPOs, uma pra cada OU. Back e Front bloqueiam Painel de</a:t>
            </a:r>
          </a:p>
          <a:p>
            <a:r>
              <a:t>Controle, USB e Regedit. A GPO do PM bloqueia tudo isso mais o CMD e</a:t>
            </a:r>
          </a:p>
          <a:p>
            <a:r>
              <a:t>o Gerenciador de Tarefas. Todas aplicam o mesmo wallpaper corporativo</a:t>
            </a:r>
          </a:p>
          <a:p>
            <a:r>
              <a:t>via compartilhamento de rede. As politicas sao implementadas via</a:t>
            </a:r>
          </a:p>
          <a:p>
            <a:r>
              <a:t>chaves de registro usando Set-GPRegistryValue.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7 — DNS):</a:t>
            </a:r>
          </a:p>
          <a:p>
            <a:r>
              <a:t>Configuramos a zona de pesquisa direta spacecode.internal no DNS do</a:t>
            </a:r>
          </a:p>
          <a:p>
            <a:r>
              <a:t>servidor. Criamos tres registros A: um pro dominio raiz, um pra www</a:t>
            </a:r>
          </a:p>
          <a:p>
            <a:r>
              <a:t>e um pra api (que aponta pro NEXUS API). O cliente tem o DNS apontando</a:t>
            </a:r>
          </a:p>
          <a:p>
            <a:r>
              <a:t>pro IP do Domain Controller, entao quando digita spacecode.internal</a:t>
            </a:r>
          </a:p>
          <a:p>
            <a:r>
              <a:t>no Edge, resolve pra o IP do servidor onde o IIS ta rodando.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8 — IIS WEBSITE):</a:t>
            </a:r>
          </a:p>
          <a:p>
            <a:r>
              <a:t>O site institucional da Space Code foi construido com HTML, CSS e</a:t>
            </a:r>
          </a:p>
          <a:p>
            <a:r>
              <a:t>JavaScript puro, sem frameworks. Tem secao sobre a empresa, sobre a</a:t>
            </a:r>
          </a:p>
          <a:p>
            <a:r>
              <a:t>plataforma NEXUS, a equipe com nossas fotos, nomes, RMs e areas de</a:t>
            </a:r>
          </a:p>
          <a:p>
            <a:r>
              <a:t>interesse, e um formulario de contato com Nome, Sobrenome e Mensagem.</a:t>
            </a:r>
          </a:p>
          <a:p>
            <a:r>
              <a:t>Todos os campos sao obrigatorios. Quando o usuario clica em Enviar,</a:t>
            </a:r>
          </a:p>
          <a:p>
            <a:r>
              <a:t>os dados sao salvos em um arquivo JSON (contatos.json). O site esta</a:t>
            </a:r>
          </a:p>
          <a:p>
            <a:r>
              <a:t>hospedado no IIS do Windows Server com o binding spacecode.internal.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9 — FORMULARIO E JSON):</a:t>
            </a:r>
          </a:p>
          <a:p>
            <a:r>
              <a:t>O formulario tem tres campos obrigatorios: nome, sobrenome e mensagem.</a:t>
            </a:r>
          </a:p>
          <a:p>
            <a:r>
              <a:t>Quando o usuario preenche e clica em Enviar, o JavaScript valida os</a:t>
            </a:r>
          </a:p>
          <a:p>
            <a:r>
              <a:t>campos, cria o objeto JSON com timestamp, salva no localStorage e</a:t>
            </a:r>
          </a:p>
          <a:p>
            <a:r>
              <a:t>faz o download automatico do arquivo contatos.json. Esse arquivo pode</a:t>
            </a:r>
          </a:p>
          <a:p>
            <a:r>
              <a:t>ser visto com todos os contatos acumulados. Na versao IIS, o backend</a:t>
            </a:r>
          </a:p>
          <a:p>
            <a:r>
              <a:t>poderia salvar diretamente no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10 — CLIENTE):</a:t>
            </a:r>
          </a:p>
          <a:p>
            <a:r>
              <a:t>O script join-client.ps1 automatiza o ingresso da maquina cliente no</a:t>
            </a:r>
          </a:p>
          <a:p>
            <a:r>
              <a:t>dominio. Ele configura o DNS, testa a conectividade, e faz o join.</a:t>
            </a:r>
          </a:p>
          <a:p>
            <a:r>
              <a:t>Apos o reboot, logamos com o usuario rodrigo.leme que precisa trocar</a:t>
            </a:r>
          </a:p>
          <a:p>
            <a:r>
              <a:t>a senha. Uma vez logado, as GPOs sao aplicadas automaticamente:</a:t>
            </a:r>
          </a:p>
          <a:p>
            <a:r>
              <a:t>wallpaper corporativo aparece e os bloqueios ficam 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11 — MAPEAMENTO):</a:t>
            </a:r>
          </a:p>
          <a:p>
            <a:r>
              <a:t>Aqui temos o mapeamento completo de tudo que foi pedido versus o que</a:t>
            </a:r>
          </a:p>
          <a:p>
            <a:r>
              <a:t>foi entregue. Todos os 14 requisitos estao com status ENTREGUE.</a:t>
            </a:r>
          </a:p>
          <a:p>
            <a:r>
              <a:t>Cada item do escopo foi implementado e automatizado com scripts</a:t>
            </a:r>
          </a:p>
          <a:p>
            <a:r>
              <a:t>PowerShell. O site esta completo com todas as secoes pedidas e o</a:t>
            </a:r>
          </a:p>
          <a:p>
            <a:r>
              <a:t>formulario salva corretamente em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12 — RECOVERY SITE):</a:t>
            </a:r>
          </a:p>
          <a:p>
            <a:r>
              <a:t>Nosso plano de recovery site usa um datacenter orbital. A conectividade</a:t>
            </a:r>
          </a:p>
          <a:p>
            <a:r>
              <a:t>seria via Starlink em LEO, com latencia de 20 a 40 milissegundos e</a:t>
            </a:r>
          </a:p>
          <a:p>
            <a:r>
              <a:t>DTN pra tolerancia a delays. A replicacao inclui um RODC pra Active</a:t>
            </a:r>
          </a:p>
          <a:p>
            <a:r>
              <a:t>Directory, zona DNS secundaria, replica do IIS e replicacao assincrona</a:t>
            </a:r>
          </a:p>
          <a:p>
            <a:r>
              <a:t>do banco de dados. O desenvolvimento seria espelhado entre terra e</a:t>
            </a:r>
          </a:p>
          <a:p>
            <a:r>
              <a:t>espaco com Git bundles e CI/CD local. Do ponto de vista ESG, o</a:t>
            </a:r>
          </a:p>
          <a:p>
            <a:r>
              <a:t>datacenter orbital tem refrigeracao no vacuo, energia solar 100%</a:t>
            </a:r>
          </a:p>
          <a:p>
            <a:r>
              <a:t>renovavel e zero emissoes.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13 — DIAGRAMA RECOVERY):</a:t>
            </a:r>
          </a:p>
          <a:p>
            <a:r>
              <a:t>Aqui temos a arquitetura do recovery site. O site principal na terra</a:t>
            </a:r>
          </a:p>
          <a:p>
            <a:r>
              <a:t>tem o DC completo, DNS primario, IIS e a NEXUS API. O recovery orbital</a:t>
            </a:r>
          </a:p>
          <a:p>
            <a:r>
              <a:t>espelha tudo em modo passivo: RODC, DNS secundario, IIS replica e</a:t>
            </a:r>
          </a:p>
          <a:p>
            <a:r>
              <a:t>banco assincrono. A comunicacao e via Starlink com latencia de 20 a</a:t>
            </a:r>
          </a:p>
          <a:p>
            <a:r>
              <a:t>40ms. Se o site principal cai, o failover automatico ativa o</a:t>
            </a:r>
          </a:p>
          <a:p>
            <a:r>
              <a:t>datacenter espacial em menos de 5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14 — SERVICOS):</a:t>
            </a:r>
          </a:p>
          <a:p>
            <a:r>
              <a:t>Estes sao todos os servicos do Windows Server que instalamos e</a:t>
            </a:r>
          </a:p>
          <a:p>
            <a:r>
              <a:t>configuramos: AD DS para o dominio, DNS para resolucao de nomes, IIS</a:t>
            </a:r>
          </a:p>
          <a:p>
            <a:r>
              <a:t>para hospedar o site, GPMC para gerenciar as politicas, e as ferramentas</a:t>
            </a:r>
          </a:p>
          <a:p>
            <a:r>
              <a:t>de administracao remota. Todos estao ativos e funcionais.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15 — METODOLOGIA):</a:t>
            </a:r>
          </a:p>
          <a:p>
            <a:r>
              <a:t>Nossa abordagem foi Infrastructure as Code: toda a infraestrutura</a:t>
            </a:r>
          </a:p>
          <a:p>
            <a:r>
              <a:t>esta em scripts PowerShell versionados no Git. Isso garante</a:t>
            </a:r>
          </a:p>
          <a:p>
            <a:r>
              <a:t>reprodutibilidade, documentacao e facilidade de manutencao. Os scripts</a:t>
            </a:r>
          </a:p>
          <a:p>
            <a:r>
              <a:t>sao idempotentes, ou seja, podem ser executados varias vezes sem</a:t>
            </a:r>
          </a:p>
          <a:p>
            <a:r>
              <a:t>causar problemas. Usamos Windows Server 2022, o site foi feito em</a:t>
            </a:r>
          </a:p>
          <a:p>
            <a:r>
              <a:t>HTML/CSS/JS puro, e o NEXUS API roda em Python com FastAPI.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(SLIDE 16 — CONCLUSAO):</a:t>
            </a:r>
          </a:p>
          <a:p>
            <a:r>
              <a:t>Para finalizar: entregamos 100% do escopo pedido. Toda a infraestrutura</a:t>
            </a:r>
          </a:p>
          <a:p>
            <a:r>
              <a:t>Windows Server esta automatizada, o site institucional esta funcional</a:t>
            </a:r>
          </a:p>
          <a:p>
            <a:r>
              <a:t>com o formulario salvando em JSON, e temos o plano de recovery em</a:t>
            </a:r>
          </a:p>
          <a:p>
            <a:r>
              <a:t>datacenter espacial. Sistemas que salvam vidas nao sao opcionais.</a:t>
            </a:r>
          </a:p>
          <a:p>
            <a:r>
              <a:t>Sao o proximo passo. Obrigado!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SPACE CODE LTDA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C8FF"/>
                </a:solidFill>
                <a:latin typeface="Calibri"/>
              </a:defRPr>
            </a:pPr>
            <a:r>
              <a:t>Global Solution — Sistemas Operacionais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92B0"/>
                </a:solidFill>
                <a:latin typeface="Calibri"/>
              </a:defRPr>
            </a:pPr>
            <a:r>
              <a:t>Infraestrutura Windows Server para Ambientes Extremos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4389120"/>
            <a:ext cx="2103120" cy="3810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2B0"/>
                </a:solidFill>
                <a:latin typeface="Calibri"/>
              </a:defRPr>
            </a:pPr>
            <a:r>
              <a:t>Fabrini Oliveira  |  Cezar Santos  |  Rodrigo 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92B0"/>
                </a:solidFill>
                <a:latin typeface="Calibri"/>
              </a:defRPr>
            </a:pPr>
            <a:r>
              <a:t>FIAP — Engenharia de Software — 1o Semestre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1. Escopo e Contexto do Projeto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2. Active Directory — Usuarios, Grupos e OUs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3. Group Policy Objects (GPOs)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4. DNS — Resolucao de Nomes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5. IIS — Site Institucional com Formulario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6. Demonstracao do Site e JSON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7. Ingresso do Cliente no Dominio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8. Mapeamento: Requisitos vs Entregas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9. Plano de Recovery Site (Datacenter Espacial)</a:t>
            </a:r>
          </a:p>
          <a:p>
            <a:pPr>
              <a:spcAft>
                <a:spcPts val="719"/>
              </a:spcAft>
              <a:defRPr sz="2000" b="0">
                <a:solidFill>
                  <a:srgbClr val="E6F0FA"/>
                </a:solidFill>
                <a:latin typeface="Calibri"/>
              </a:defRPr>
            </a:pPr>
            <a:r>
              <a:t>10. Conclusao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Escopo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2B"/>
                </a:solidFill>
                <a:latin typeface="Calibri"/>
              </a:defRPr>
            </a:pPr>
            <a:r>
              <a:t>Space Code LTDA — A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Software house ficticia criada para a Global Solution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Desenvolve o NEXUS: SO para ambientes extremos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Ambientes: offshore, antartica, militar, espacial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Inspirada nos protocolos de resiliencia da NASA/ISS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Produto: API REST (FastAPI + SQLAlchemy + SQLite)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2B"/>
                </a:solidFill>
                <a:latin typeface="Calibri"/>
              </a:defRPr>
            </a:pPr>
            <a:r>
              <a:t>O que foi pedido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Active Directory: 10 usuarios, 3 grupos, OUs + Sub-OUs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GPO: bloqueio de Painel, USB, Regedit, CMD, Task Mgr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GPO: wallpaper corporativo padrao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DNS: zona direta para o site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IIS: site institucional + formulario -&gt; JSON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Ingresso de cliente no dominio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Plano de Recovery Site (datacenter espacial)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Active Directory — Estrutura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2B"/>
                </a:solidFill>
                <a:latin typeface="Calibri"/>
              </a:defRPr>
            </a:pPr>
            <a:r>
              <a:t>Dominio: spacecode.local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Organizational Units (OUs)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4572000" cy="32004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4114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spacecode.local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|-- OU=Back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     |-- Sub-OU=Back_Devs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           |-- GRP_Back (5 usuarios)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|-- OU=Front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     |-- Sub-OU=Front_Devs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           |-- GRP_Front (3 usuarios)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|-- OU=PM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      |-- Sub-OU=PM_Users</a:t>
            </a:r>
          </a:p>
          <a:p>
            <a:pPr>
              <a:spcAft>
                <a:spcPts val="312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            |-- GRP_PM (2 usuarios)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 Funcionarios Criados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BACK-END (GRP_Back):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rodrigo.leme *    (alterar senha 1o login)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cezar.santos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fabrini.oliveira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lucas.mendes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ana.costa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FRONT-END (GRP_Front):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maria.silva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pedro.almeida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julia.ferreira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PM (GRP_PM):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carlos.ribeiro</a:t>
            </a:r>
          </a:p>
          <a:p>
            <a:pPr>
              <a:spcAft>
                <a:spcPts val="234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  beatriz.martins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2B"/>
                </a:solidFill>
                <a:latin typeface="Calibri"/>
              </a:defRPr>
            </a:pPr>
            <a:r>
              <a:t>* Usuario configurado para alterar senha no primeiro login (requisito do projeto)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Active Directory — Script de Automacao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setup-ad.ps1 — Principais Comandos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515600" cy="4389120"/>
          </a:xfrm>
          <a:prstGeom prst="roundRect">
            <a:avLst/>
          </a:prstGeom>
          <a:solidFill>
            <a:srgbClr val="08102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# 1. Instalar AD DS e promover a Domain Controller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Install-WindowsFeature -Name AD-Domain-Services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Install-ADDSForest -DomainName 'spacecode.local'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# 2. Criar OUs e Sub-OUs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New-ADOrganizationalUnit -Name 'Back' -Path 'DC=spacecode,DC=local'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New-ADOrganizationalUnit -Name 'Back_Devs' -Path 'OU=Back,DC=spacecode,DC=local'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# 3. Criar grupos de seguranca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New-ADGroup -Name 'GRP_Back' -GroupScope Global -GroupCategory Security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# 4. Criar usuarios e adicionar aos grupos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New-ADUser -Name 'Rodrigo Leme' -SamAccountName 'rodrigo.leme'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  -ChangePasswordAtLogon $true  # Alterar senha no 1o login</a:t>
            </a:r>
          </a:p>
          <a:p>
            <a:pPr>
              <a:spcAft>
                <a:spcPts val="273"/>
              </a:spcAft>
              <a:defRPr sz="1300" b="0">
                <a:solidFill>
                  <a:srgbClr val="00D68F"/>
                </a:solidFill>
                <a:latin typeface="Calibri"/>
              </a:defRPr>
            </a:pPr>
            <a:r>
              <a:t>Add-ADGroupMember -Identity 'GRP_Back' -Members 'rodrigo.leme'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Group Policy Objects (GPOs)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GPO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820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408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Painel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59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9959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USB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584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Regedit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1172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CMD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760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Task Mgr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12680" y="1645920"/>
            <a:ext cx="1280160" cy="457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63480" y="169164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Wallpaper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2320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GPO_Back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57400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8200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Back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4080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9959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5840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11720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7600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219456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63480" y="22326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68F"/>
                </a:solidFill>
                <a:latin typeface="Calibri"/>
              </a:defRPr>
            </a:pPr>
            <a:r>
              <a:t>Sim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2320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GPO_Front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57400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8200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Front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83280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34080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59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9959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35040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5840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60920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11720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686800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37600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-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2680" y="269748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63480" y="27355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68F"/>
                </a:solidFill>
                <a:latin typeface="Calibri"/>
              </a:defRPr>
            </a:pPr>
            <a:r>
              <a:t>Sim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1520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2320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GPO_PM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057400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08200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92B0"/>
                </a:solidFill>
                <a:latin typeface="Calibri"/>
              </a:defRPr>
            </a:pPr>
            <a:r>
              <a:t>PM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83280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34080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09159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9959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035040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5840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360920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11720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686800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37600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6B2B"/>
                </a:solidFill>
                <a:latin typeface="Calibri"/>
              </a:defRPr>
            </a:pPr>
            <a:r>
              <a:t>Bloq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12680" y="3200400"/>
            <a:ext cx="1280160" cy="457200"/>
          </a:xfrm>
          <a:prstGeom prst="roundRect">
            <a:avLst/>
          </a:prstGeom>
          <a:solidFill>
            <a:srgbClr val="0D1B3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63480" y="32385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D68F"/>
                </a:solidFill>
                <a:latin typeface="Calibri"/>
              </a:defRPr>
            </a:pPr>
            <a:r>
              <a:t>Sim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Implementacao via Registry Policy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Painel de Controle: NoControlPanel = 1 (HKCU\Explorer)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USB: USBSTOR\Start = 4 (HKLM\Services)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Regedit: DisableRegistryTools = 2 (HKCU\System)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CMD: DisableCMD = 2 (HKCU\Windows\System)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Task Manager: DisableTaskMgr = 1 (HKCU\System)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Wallpaper: compartilhamento de rede + WallpaperStyle =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DNS — Resolucao de Nomes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2B"/>
                </a:solidFill>
                <a:latin typeface="Calibri"/>
              </a:defRPr>
            </a:pPr>
            <a:r>
              <a:t>Zona de Pesquisa Direta: spacecode.internal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5029200" cy="27432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860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Registros DNS configurados:</a:t>
            </a:r>
          </a:p>
          <a:p>
            <a:pPr>
              <a:spcAft>
                <a:spcPts val="420"/>
              </a:spcAft>
              <a:defRPr sz="1400" b="0">
                <a:solidFill>
                  <a:srgbClr val="E6F0FA"/>
                </a:solidFill>
                <a:latin typeface="Calibri"/>
              </a:defRPr>
            </a:pPr>
          </a:p>
          <a:p>
            <a:pPr>
              <a:spcAft>
                <a:spcPts val="420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spacecode.internal      -&gt; A  -&gt; IP do Servidor</a:t>
            </a:r>
          </a:p>
          <a:p>
            <a:pPr>
              <a:spcAft>
                <a:spcPts val="420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www.spacecode.internal   -&gt; A  -&gt; IP do Servidor</a:t>
            </a:r>
          </a:p>
          <a:p>
            <a:pPr>
              <a:spcAft>
                <a:spcPts val="420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api.spacecode.internal   -&gt; A  -&gt; IP do Servidor (NEXUS API)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Metodologia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DNS Server instalado junto com AD DS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Zona criada com Add-DnsServerPrimaryZone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Registros A com Add-DnsServerResourceRecordA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Cliente aponta DNS para IP do DC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Validacao: nslookup spacecode.internal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Fluxo de Resolucao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68F"/>
                </a:solidFill>
                <a:latin typeface="Calibri"/>
              </a:defRPr>
            </a:pPr>
            <a:r>
              <a:t>Cliente  --&gt;  DNS Server (DC)  --&gt;  spacecode.internal  --&gt;  IP do IIS  --&gt;  Site carregado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IIS — Site Institucional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2B"/>
                </a:solidFill>
                <a:latin typeface="Calibri"/>
              </a:defRPr>
            </a:pPr>
            <a:r>
              <a:t>http://spacecode.internal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Pagina principal com apresentacao da empresa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Secao 'Sobre' com historia e missao da Space Code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Secao 'NEXUS' com detalhes da plataforma (4 pilares)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Secao 'Equipe' com fotos, nomes, RMs e areas de interesse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Formulario de Contato: Nome, Sobrenome, Mensagem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Todos os campos obrigatorios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Dados salvos em arquivo JSON (contatos.json)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Design responsivo com tema NEXUS (dark mode)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Stack Tecnica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500" b="0">
                <a:solidFill>
                  <a:srgbClr val="00C8FF"/>
                </a:solidFill>
                <a:latin typeface="Calibri"/>
              </a:defRPr>
            </a:pPr>
            <a:r>
              <a:t>■ HTML5 semantico</a:t>
            </a:r>
          </a:p>
          <a:p>
            <a:pPr>
              <a:spcAft>
                <a:spcPts val="540"/>
              </a:spcAft>
              <a:defRPr sz="1500" b="0">
                <a:solidFill>
                  <a:srgbClr val="00C8FF"/>
                </a:solidFill>
                <a:latin typeface="Calibri"/>
              </a:defRPr>
            </a:pPr>
            <a:r>
              <a:t>■ CSS3 com variaveis e grid layout</a:t>
            </a:r>
          </a:p>
          <a:p>
            <a:pPr>
              <a:spcAft>
                <a:spcPts val="540"/>
              </a:spcAft>
              <a:defRPr sz="1500" b="0">
                <a:solidFill>
                  <a:srgbClr val="00C8FF"/>
                </a:solidFill>
                <a:latin typeface="Calibri"/>
              </a:defRPr>
            </a:pPr>
            <a:r>
              <a:t>■ JavaScript vanilla (sem frameworks)</a:t>
            </a:r>
          </a:p>
          <a:p>
            <a:pPr>
              <a:spcAft>
                <a:spcPts val="540"/>
              </a:spcAft>
              <a:defRPr sz="1500" b="0">
                <a:solidFill>
                  <a:srgbClr val="00C8FF"/>
                </a:solidFill>
                <a:latin typeface="Calibri"/>
              </a:defRPr>
            </a:pPr>
            <a:r>
              <a:t>■ Google Fonts (Inter)</a:t>
            </a:r>
          </a:p>
          <a:p>
            <a:pPr>
              <a:spcAft>
                <a:spcPts val="540"/>
              </a:spcAft>
              <a:defRPr sz="1500" b="0">
                <a:solidFill>
                  <a:srgbClr val="00C8FF"/>
                </a:solidFill>
                <a:latin typeface="Calibri"/>
              </a:defRPr>
            </a:pPr>
            <a:r>
              <a:t>■ LocalStorage + download de JSON</a:t>
            </a:r>
          </a:p>
          <a:p>
            <a:pPr>
              <a:spcAft>
                <a:spcPts val="540"/>
              </a:spcAft>
              <a:defRPr sz="1500" b="0">
                <a:solidFill>
                  <a:srgbClr val="00C8FF"/>
                </a:solidFill>
                <a:latin typeface="Calibri"/>
              </a:defRPr>
            </a:pPr>
            <a:r>
              <a:t>■ Hospedado no IIS do Windows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Equipe no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Fabrini Oliveira — RM: 560210 — Back-End &amp; Infra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Cezar Santos — RM: 561082 — IA &amp; Data Science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Rodrigo Leme — RM: 561069 — Full-Stack &amp; Mobile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Formulario de Contato -&gt;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Campos do Formulario (obrigatorios)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Nome: campo de texto (obrigatorio)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Sobrenome: campo de texto (obrigatorio)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Mensagem: textarea multilinha (obrigatorio)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Botao 'Enviar' ao final</a:t>
            </a:r>
          </a:p>
          <a:p>
            <a:pPr>
              <a:spcAft>
                <a:spcPts val="540"/>
              </a:spcAft>
              <a:defRPr sz="1500" b="0">
                <a:solidFill>
                  <a:srgbClr val="E6F0FA"/>
                </a:solidFill>
                <a:latin typeface="Calibri"/>
              </a:defRPr>
            </a:pPr>
            <a:r>
              <a:t>■ Validacao HTML5 (required) + JavaScript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Saida: contatos.json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5029200" cy="2743200"/>
          </a:xfrm>
          <a:prstGeom prst="roundRect">
            <a:avLst/>
          </a:prstGeom>
          <a:solidFill>
            <a:srgbClr val="081020"/>
          </a:solidFill>
          <a:ln w="12700">
            <a:solidFill>
              <a:srgbClr val="00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[</a:t>
            </a:r>
          </a:p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  {</a:t>
            </a:r>
          </a:p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    "nome": "Joao",</a:t>
            </a:r>
          </a:p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    "sobrenome": "Silva",</a:t>
            </a:r>
          </a:p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    "mensagem": "Gostaria de saber mais...",</a:t>
            </a:r>
          </a:p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    "data": "2026-06-10T14:30:00.000Z"</a:t>
            </a:r>
          </a:p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  }</a:t>
            </a:r>
          </a:p>
          <a:p>
            <a:pPr>
              <a:spcAft>
                <a:spcPts val="210"/>
              </a:spcAft>
              <a:defRPr sz="1400" b="0">
                <a:solidFill>
                  <a:srgbClr val="00D68F"/>
                </a:solidFill>
                <a:latin typeface="Calibri"/>
              </a:defRPr>
            </a:pPr>
            <a: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FF"/>
                </a:solidFill>
                <a:latin typeface="Calibri"/>
              </a:defRPr>
            </a:pPr>
            <a:r>
              <a:t>Fluxo do Formulario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1. Usuario preenche os 3 campos obrigatorios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2. Clica em 'Enviar'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3. JavaScript valida e cria objeto JSON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4. Dados salvos no localStorage + download automatico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5. Arquivo contatos.json gerado com todos os contatos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6. Feedback visual: mensagem de sucesso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Ingresso do Cliente no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join-client.ps1 — Automacao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1. Configura DNS do cliente para apontar ao DC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2. Testa conectividade (ping) e resolucao DNS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3. Solicita credenciais do admin do dominio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4. Executa Add-Computer -DomainName spacecode.local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5. Maquina reinicia automaticamente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6. Login com: spacecode\rodrigo.leme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7. Senha: SpaceCode@2026 (sera obrigado a alterar)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Apos o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Wallpaper corporativo aplicado automaticamente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GPO_Back ativa: Painel bloqueado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GPO_Back ativa: USB bloqueado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GPO_Back ativa: Regedit bloqueado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Acesso ao site: http://spacecode.internal</a:t>
            </a:r>
          </a:p>
          <a:p>
            <a:pPr>
              <a:spcAft>
                <a:spcPts val="576"/>
              </a:spcAft>
              <a:defRPr sz="1600" b="0">
                <a:solidFill>
                  <a:srgbClr val="00C8FF"/>
                </a:solidFill>
                <a:latin typeface="Calibri"/>
              </a:defRPr>
            </a:pPr>
            <a:r>
              <a:t>■ Verificacao com: gpupdate /force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8FF"/>
                </a:solidFill>
                <a:latin typeface="Calibri"/>
              </a:defRPr>
            </a:pPr>
            <a:r>
              <a:t>Mapeamento: Requisitos vs Entregas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AD: 10 usuarios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10 usuarios criados (5 Back + 3 Front + 2 PM)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188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AD: Grupos Back/Front/PM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GRP_Back, GRP_Front, GRP_PM criados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AD: OUs para cada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OU=Back, OU=Front, OU=PM criadas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AD: Sub-OUs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28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Back_Devs, Front_Devs, PM_Users criadas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AD: Alterar senha 1o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51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rodrigo.leme com ChangePasswordAtLogon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GPO: Bloqueios Back/Front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Painel, USB, Regedit bloqueados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GPO: Bloqueios PM (+CMD/TaskMgr)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Todos bloqueios + CMD + Task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GPO: Wallpaper padrao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749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Wallpaper corporativo via compartilhamento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GPO: Cliente no dominio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join-client.ps1 automatizado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DNS: Zona direta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480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spacecode.internal configurada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4480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IIS: Site institucional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Site completo com 5 secoes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IIS: Fotos/nomes/RMs/areas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212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3 membros com dados completos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5212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77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IIS: Formulario -&gt;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Form com 3 campos + contatos.json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F0FA"/>
                </a:solidFill>
                <a:latin typeface="Calibri"/>
              </a:defRPr>
            </a:pPr>
            <a:r>
              <a:t>Recovery Site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5943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Plano detalhado (datacenter orbital)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943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68F"/>
                </a:solidFill>
                <a:latin typeface="Calibri"/>
              </a:defRPr>
            </a:pPr>
            <a:r>
              <a:t>ENTREGUE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Plano de Recovery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2B"/>
                </a:solidFill>
                <a:latin typeface="Calibri"/>
              </a:defRPr>
            </a:pPr>
            <a:r>
              <a:t>Datacenter Espacial — Replicacao da Infraestrutura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1. Conectividade Terra x Espaco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Uplink: constelacao Starlink (LEO) como backbone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Latencia estimada: 20-40ms (LEO) vs 600ms (GEO)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Redundancia: 2+ enlaces satelitais independentes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Protocolo: DTN (Delay-Tolerant Networking) pra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2. Replicacao de Servicos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AD: Read-Only Domain Controller (RODC) no espaco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DNS: zona secundaria sincronizada por satelite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IIS: replica ativo-passivo com health check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DB: replicacao assincrona SQLite -&gt; PostgreSQL orbital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Failover automatico se terra fica offline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3. Desenvolvimento Terra + Espaco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Git: repositorios espelhados via bundle transfer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CI/CD: pipeline local no datacenter orbital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Deploy: blue-green entre terra e espaco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Monitoring: metricas unificadas (Prometheus federated)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4. Sustentabilidade e ESG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Refrigeracao: vaco espacial = 0 custo energetico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Energia: paineis solares (100% renovavel)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Emissoes: zero no datacenter orbital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Governanca: compliance ISO 27001 + LGPD</a:t>
            </a:r>
          </a:p>
          <a:p>
            <a:pPr>
              <a:spcAft>
                <a:spcPts val="251"/>
              </a:spcAft>
              <a:defRPr sz="1200" b="0">
                <a:solidFill>
                  <a:srgbClr val="E6F0FA"/>
                </a:solidFill>
                <a:latin typeface="Calibri"/>
              </a:defRPr>
            </a:pPr>
            <a:r>
              <a:t>■ Auditoria: logs imutaveis com hash chain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Recovery Site — Arquitetura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114800" cy="41148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FF"/>
                </a:solidFill>
                <a:latin typeface="Calibri"/>
              </a:defRPr>
            </a:pPr>
            <a:r>
              <a:t>TERRA (Site Principal)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Windows Server 2022 (DC)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AD DS (spacecode.local)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DNS Primario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IIS (spacecode.internal)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NEXUS API (FastAPI)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SQLite DB (primario)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Monitoramento 24/7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4114800" cy="411480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FF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2B"/>
                </a:solidFill>
                <a:latin typeface="Calibri"/>
              </a:defRPr>
            </a:pPr>
            <a:r>
              <a:t>ESPACO (Recovery Site)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8600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Datacenter Orbital (LEO)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RODC (Read-Only DC)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DNS Secundario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IIS Replica (passivo)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NEXUS API (replica)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PostgreSQL (replica async)</a:t>
            </a:r>
          </a:p>
          <a:p>
            <a:pPr>
              <a:spcAft>
                <a:spcPts val="468"/>
              </a:spcAft>
              <a:defRPr sz="1300" b="0">
                <a:solidFill>
                  <a:srgbClr val="E6F0FA"/>
                </a:solidFill>
                <a:latin typeface="Calibri"/>
              </a:defRPr>
            </a:pPr>
            <a:r>
              <a:t>■ Energia Solar + Vacuo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68F"/>
                </a:solidFill>
                <a:latin typeface="Calibri"/>
              </a:defRPr>
            </a:pPr>
            <a:r>
              <a:t>&lt; --- Starlink LEO --- 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657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2B0"/>
                </a:solidFill>
                <a:latin typeface="Calibri"/>
              </a:defRPr>
            </a:pPr>
            <a:r>
              <a:t>20-40ms latencia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92B0"/>
                </a:solidFill>
                <a:latin typeface="Calibri"/>
              </a:defRPr>
            </a:pPr>
            <a:r>
              <a:t>DTN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Metricas de Recuperacao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68F"/>
                </a:solidFill>
                <a:latin typeface="Calibri"/>
              </a:defRPr>
            </a:pPr>
            <a:r>
              <a:t>RTO: &lt; 5 minutos  |  RPO: &lt; 15 minutos  |  Uptime target: 99.95%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Servicos Windows Instalados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515600" cy="6400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6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AD 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671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Active Directory Domain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74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Gerenciamento de identidades e acesso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722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68F"/>
                </a:solidFill>
                <a:latin typeface="Calibri"/>
              </a:defRPr>
            </a:pPr>
            <a:r>
              <a:t>INSTALADO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515600" cy="6400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82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402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DNS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Resolucao de nomes para o site e dominio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453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68F"/>
                </a:solidFill>
                <a:latin typeface="Calibri"/>
              </a:defRPr>
            </a:pPr>
            <a:r>
              <a:t>INSTALADO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10515600" cy="6400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9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IIS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1343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Internet Information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3375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Servidor web para o site institucional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85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68F"/>
                </a:solidFill>
                <a:latin typeface="Calibri"/>
              </a:defRPr>
            </a:pPr>
            <a:r>
              <a:t>INSTALADO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515600" cy="6400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91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GPMC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865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Group Policy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69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Gerenciamento de politicas de grupo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916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68F"/>
                </a:solidFill>
                <a:latin typeface="Calibri"/>
              </a:defRPr>
            </a:pPr>
            <a:r>
              <a:t>INSTALADO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72000"/>
            <a:ext cx="10515600" cy="6400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228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RSAT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597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Remote Server Admin 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80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Ferramentas de administracao remota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48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68F"/>
                </a:solidFill>
                <a:latin typeface="Calibri"/>
              </a:defRPr>
            </a:pPr>
            <a:r>
              <a:t>INSTALADO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303520"/>
            <a:ext cx="10515600" cy="640080"/>
          </a:xfrm>
          <a:prstGeom prst="roundRect">
            <a:avLst/>
          </a:prstGeom>
          <a:solidFill>
            <a:srgbClr val="112240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54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FF"/>
                </a:solidFill>
                <a:latin typeface="Calibri"/>
              </a:defRPr>
            </a:pPr>
            <a:r>
              <a:t>IIS Mgmt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328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 Management 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5532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92B0"/>
                </a:solidFill>
                <a:latin typeface="Calibri"/>
              </a:defRPr>
            </a:pPr>
            <a:r>
              <a:t>Console de gerenciamento do IIS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379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68F"/>
                </a:solidFill>
                <a:latin typeface="Calibri"/>
              </a:defRPr>
            </a:pPr>
            <a:r>
              <a:t>INSTALADO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8FF"/>
                </a:solidFill>
                <a:latin typeface="Calibri"/>
              </a:defRPr>
            </a:pPr>
            <a:r>
              <a:t>Metodologia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2B"/>
                </a:solidFill>
                <a:latin typeface="Calibri"/>
              </a:defRPr>
            </a:pPr>
            <a:r>
              <a:t>Abordagem: Infrastructure as Code (IaC)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Toda a infraestrutura foi automatizada com PowerShell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Scripts idempotentes: podem ser executados multiplas vezes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Versionados no Git (repositorio nexus-api)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Documentacao completa em README.md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Ordem de execucao clara: AD -&gt; Reboot -&gt; GPO -&gt; DNS -&gt; IIS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2B"/>
                </a:solidFill>
                <a:latin typeface="Calibri"/>
              </a:defRPr>
            </a:pPr>
            <a:r>
              <a:t>Ferramentas Utilizadas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Windows Server 2022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PowerShell 5.1+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Active Directory Module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GroupPolicy Module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DNS Server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663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IIS (WebAdministration Module)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HTML5 / CSS3 / JavaScript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Git / GitHub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Python (FastAPI — NEXUS API)</a:t>
            </a:r>
          </a:p>
          <a:p>
            <a:pPr>
              <a:spcAft>
                <a:spcPts val="504"/>
              </a:spcAft>
              <a:defRPr sz="1400" b="0">
                <a:solidFill>
                  <a:srgbClr val="E6F0FA"/>
                </a:solidFill>
                <a:latin typeface="Calibri"/>
              </a:defRPr>
            </a:pPr>
            <a:r>
              <a:t>■ VirtualBox / Azure (ambiente)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SPACE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C8FF"/>
                </a:solidFill>
                <a:latin typeface="Calibri"/>
              </a:defRPr>
            </a:pPr>
            <a:r>
              <a:t>Sistemas que salvam vidas nao sao opcionais.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6B2B"/>
                </a:solidFill>
                <a:latin typeface="Calibri"/>
              </a:defRPr>
            </a:pPr>
            <a:r>
              <a:t>Sao o proximo passo.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3931920"/>
            <a:ext cx="2103120" cy="38100"/>
          </a:xfrm>
          <a:prstGeom prst="round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14 requisitos entregues — 100% do escopo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Infraestrutura completa automatizada em PowerShell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Site institucional funcional com formulario JSON</a:t>
            </a:r>
          </a:p>
          <a:p>
            <a:pPr>
              <a:spcAft>
                <a:spcPts val="576"/>
              </a:spcAft>
              <a:defRPr sz="1600" b="0">
                <a:solidFill>
                  <a:srgbClr val="E6F0FA"/>
                </a:solidFill>
                <a:latin typeface="Calibri"/>
              </a:defRPr>
            </a:pPr>
            <a:r>
              <a:t>■ Plano de Recovery Site em datacenter espacial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92B0"/>
                </a:solidFill>
                <a:latin typeface="Calibri"/>
              </a:defRPr>
            </a:pPr>
            <a:r>
              <a:t>Obrigado!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2B0"/>
                </a:solidFill>
                <a:latin typeface="Calibri"/>
              </a:defRPr>
            </a:pPr>
            <a:r>
              <a:t>Fabrini  |  Cezar  |  Rodrigo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